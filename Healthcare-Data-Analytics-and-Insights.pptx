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65" r:id="rId15"/>
    <p:sldId id="266" r:id="rId16"/>
    <p:sldId id="267" r:id="rId17"/>
  </p:sldIdLst>
  <p:sldSz cx="12192000" cy="6858000"/>
  <p:notesSz cx="6858000" cy="12192000"/>
  <p:embeddedFontLst>
    <p:embeddedFont>
      <p:font typeface="Bahnschrift SemiBold" panose="020B0502040204020203" pitchFamily="34" charset="0"/>
      <p:bold r:id="rId19"/>
    </p:embeddedFon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Libre Baskerville" panose="02000000000000000000" pitchFamily="2" charset="0"/>
      <p:regular r:id="rId24"/>
    </p:embeddedFont>
    <p:embeddedFont>
      <p:font typeface="Open Sans" panose="020B0606030504020204" pitchFamily="3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95A"/>
    <a:srgbClr val="BDBBC7"/>
    <a:srgbClr val="FB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541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31313-CA28-B33E-75DB-4E3D79C3B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AC416-2245-68C7-A2A1-7C8FD838E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27CE3-17B2-DAB5-8F3C-C24EF1912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835A5-0939-95A0-8973-0E8B8A209D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7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DBE9C-366B-3D06-0FDD-65FAE3FEA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9F17B-8309-3FAB-8123-53CBDBFD9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3D762-123D-0209-E3C7-4AE4891FD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10E29-DC2B-2544-FD8D-2C46AC028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92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D6AD-0606-704A-77F3-A69F6A5E5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FA68C-6ED9-FB94-E570-9B6034B59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22640-6B7A-E1E0-B9FA-A45BA8A63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39038-BC7A-7137-488F-3AA0927EC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21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AE31-D57B-8704-F275-A2605A82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3FA94-2186-411D-6BA6-A3701F4E7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A5522-F4A3-9D9E-273B-514009106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3F399-1EB0-B710-924B-9B3CB9388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33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87F0-39E0-6136-01AF-980479D91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EF9A4-85AF-E278-38B3-A3FE24D31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3BD2C-F098-0250-128F-11872EE7C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DB8D6-380B-10DB-E083-D87477C0F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78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9809" y="1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8788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Healthcare Data Analytics &amp; Insights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52652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600" dirty="0">
                <a:latin typeface="Bookman Old Style" panose="02050604050505020204" pitchFamily="18" charset="0"/>
              </a:rPr>
              <a:t>Tools used: Tableau, Power BI, SQL, Excel</a:t>
            </a:r>
          </a:p>
          <a:p>
            <a:pPr indent="0">
              <a:lnSpc>
                <a:spcPct val="133000"/>
              </a:lnSpc>
              <a:buNone/>
            </a:pPr>
            <a:r>
              <a:rPr lang="en-US" sz="1600" dirty="0">
                <a:latin typeface="Bookman Old Style" panose="02050604050505020204" pitchFamily="18" charset="0"/>
              </a:rPr>
              <a:t>Group Members :</a:t>
            </a:r>
          </a:p>
          <a:p>
            <a:pPr indent="0">
              <a:lnSpc>
                <a:spcPct val="133000"/>
              </a:lnSpc>
              <a:buNone/>
            </a:pPr>
            <a:r>
              <a:rPr lang="en-US" sz="1600" dirty="0">
                <a:latin typeface="Bookman Old Style" panose="02050604050505020204" pitchFamily="18" charset="0"/>
              </a:rPr>
              <a:t>Lav Dubey 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Dev Jyoti Chand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Abhishek Gupta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Ayush Sonar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1840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Agenda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61475" y="1340247"/>
            <a:ext cx="352119" cy="35212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720112" y="1369516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170" y="1394023"/>
            <a:ext cx="1038705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170" y="1716286"/>
            <a:ext cx="1038705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Scope, dataset, timeline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2204442"/>
            <a:ext cx="352119" cy="35212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720112" y="2233712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170" y="2258219"/>
            <a:ext cx="1038705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KPI Analysis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170" y="2580481"/>
            <a:ext cx="1038705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Seven focused KPIs with visualizations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3068638"/>
            <a:ext cx="352119" cy="35212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720112" y="3097907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170" y="3122414"/>
            <a:ext cx="1038705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170" y="3444677"/>
            <a:ext cx="1038705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Operational and clinical insights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1475" y="3932833"/>
            <a:ext cx="352119" cy="35212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720112" y="3962102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170" y="3986609"/>
            <a:ext cx="1038705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170" y="4308872"/>
            <a:ext cx="1038705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Actionable next steps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1475" y="4797028"/>
            <a:ext cx="352119" cy="35212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0" name="Text 18"/>
          <p:cNvSpPr/>
          <p:nvPr/>
        </p:nvSpPr>
        <p:spPr>
          <a:xfrm>
            <a:off x="720112" y="4826298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170" y="4850805"/>
            <a:ext cx="1038705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170" y="5173067"/>
            <a:ext cx="1038705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view of all KPIs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1475" y="5661223"/>
            <a:ext cx="352119" cy="35212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4" name="Text 22"/>
          <p:cNvSpPr/>
          <p:nvPr/>
        </p:nvSpPr>
        <p:spPr>
          <a:xfrm>
            <a:off x="720112" y="5690493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170" y="5715000"/>
            <a:ext cx="1038705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170" y="6037263"/>
            <a:ext cx="1038705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Summary and priorities</a:t>
            </a:r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17B36E-28C8-54DE-7FD7-A54123507DF3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08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65052"/>
            <a:ext cx="5203794" cy="3402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Dataset: 10,000 unique patients across 2023–2025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Focus: patient volume, diagnoses, billing, test outcomes, follow-ups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Scope: five departments — General Medicine, Cardiology, Pediatrics, Neurology, Orthopedics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Deliverables: 7 KPIs, visualizations, interactive dashboard, recommendations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Objective: drive care quality, operational efficiency, and cost control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2391569"/>
            <a:ext cx="5203794" cy="29488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3AE53A-09A1-94A4-05EC-774A94FB39CD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22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KPI 1 — Total No. of Patients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2537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points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09664"/>
            <a:ext cx="5203794" cy="292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population: 10,000 patients (foundation for all KPIs)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counts and monthly visits each sum to 10,000 — one diagnosis and one visit recorded per patient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Action: enable identifiers for repeat visits to measure retention and chronic-care burden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case: capacity planning for clinicians, beds, labs, and outpatient slots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2391569"/>
            <a:ext cx="5203794" cy="29488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61E8C51-9D4B-33BA-0BAC-2009D12EDC71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81EF0-4C28-E6DA-6118-48B212846F0C}"/>
              </a:ext>
            </a:extLst>
          </p:cNvPr>
          <p:cNvSpPr txBox="1"/>
          <p:nvPr/>
        </p:nvSpPr>
        <p:spPr>
          <a:xfrm>
            <a:off x="8164286" y="3592286"/>
            <a:ext cx="1726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ahnschrift SemiBold" panose="020B0502040204020203" pitchFamily="34" charset="0"/>
              </a:rPr>
              <a:t>10,000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Patients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8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KPI 2 — Diagnosis Count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648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points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60774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Counts: Migraine 2,039; Hypertension 2,011; Asthma 2,009; Healthy 1,981; Diabetes 1,960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Distribution: nearly equal across five categories (~20% each)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Long-term conditions (Diabetes, Asthma, Hypertension) total 5,980 patients (60%)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Recommendation: chronic-care programs, scheduled check-ups, targeted outreach</a:t>
            </a:r>
            <a:endParaRPr lang="en-US" sz="14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9074" y="2062065"/>
            <a:ext cx="5401376" cy="32783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378EFA-ACD7-594A-F1A4-A1F191C4D1DA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22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KPI 3 — Amount Billed by Department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2537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points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09664"/>
            <a:ext cx="5203794" cy="292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Billing totals: General Medicine $5.51M; Cardiology $5.31M; Pediatrics $5.25M; Neurology $4.72M; Orthopedics $4.61M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three departments ≈ 63% of total billing (total ≈ $25.4M)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Investigate whether lower billing reflects volume or pricing differences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Opportunity: promote Neurology &amp; Orthopedics through service bundles and referral pathways</a:t>
            </a:r>
            <a:endParaRPr lang="en-US" sz="14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74373" y="2391568"/>
            <a:ext cx="5394166" cy="32326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D7FF3AD-BF7E-A787-5E76-D59CD4E3903A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8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KPI 4 — Average Treatment Cost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7890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points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163193"/>
            <a:ext cx="5203794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treatment cost: $524.75 per patient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as benchmark for cost control and pricing reviews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Action: decompose by department and diagnosis to identify high-cost drivers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Cross-check outcomes vs cost to preserve care quality while reducing waste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2391569"/>
            <a:ext cx="5203794" cy="29488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64956F-767C-8851-6D33-20A6D5D97826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029F2C-CCFD-A091-3E2B-7B1B47955A01}"/>
              </a:ext>
            </a:extLst>
          </p:cNvPr>
          <p:cNvSpPr/>
          <p:nvPr/>
        </p:nvSpPr>
        <p:spPr>
          <a:xfrm>
            <a:off x="7632441" y="3163193"/>
            <a:ext cx="438539" cy="335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8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KPI 5 — Test Results Percentage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648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points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60774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Distribution: Abnormal 33.54% (3,354); Pending 33.44% (3,344); Normal 33.02% (3,302)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One-third of results pending — delays risk treatment deferral and lower satisfaction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One-third abnormal — requires prioritized clinician review and care pathways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 automated alerts, SLAs for lab turnaround, and prioritization for abnormal results</a:t>
            </a:r>
            <a:endParaRPr lang="en-US" sz="14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12854" r="16904" b="8656"/>
          <a:stretch>
            <a:fillRect/>
          </a:stretch>
        </p:blipFill>
        <p:spPr>
          <a:xfrm>
            <a:off x="7296539" y="1977791"/>
            <a:ext cx="4025794" cy="35005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C4F72D2-4329-166C-2D59-CA6FAC1069E0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8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KPI 6 — Follow-up Rate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648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points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60774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Follow-up required: 49.84% (~4,984 patients); No follow-up: 50.16%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Half the population needs continued care — impacts scheduling and outpatient demand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Missed follow-ups risk complications and lost revenue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Improvement: automated reminders (SMS/WhatsApp/Email), track completions, flag pending/abnormal results for outreach</a:t>
            </a:r>
            <a:endParaRPr lang="en-US" sz="14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12386" r="11798" b="8340"/>
          <a:stretch>
            <a:fillRect/>
          </a:stretch>
        </p:blipFill>
        <p:spPr>
          <a:xfrm>
            <a:off x="7221894" y="2391569"/>
            <a:ext cx="3452326" cy="27029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69B897-CE40-E53A-B70B-6734B3099CEC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5DD9-5107-7A59-14DE-0BDFDA7CD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C36A37-4315-E569-23DF-06617F65BABB}"/>
              </a:ext>
            </a:extLst>
          </p:cNvPr>
          <p:cNvSpPr/>
          <p:nvPr/>
        </p:nvSpPr>
        <p:spPr>
          <a:xfrm>
            <a:off x="661475" y="13048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08ACC1-3A11-A31F-C254-27C043D4FD41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96934-81F5-6AF5-1B3E-0F147B3A75B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EXCEL DASHBOARD</a:t>
            </a:r>
            <a:endParaRPr lang="en-IN" sz="2800" dirty="0">
              <a:latin typeface="Libre Baskerville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4260D8-B59C-E21B-CC5D-921D15FEF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538"/>
            <a:ext cx="12192000" cy="554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B36A-889A-D808-6AFE-C3D1A269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CE7DE5-68B1-B8BE-4135-1759597A52F3}"/>
              </a:ext>
            </a:extLst>
          </p:cNvPr>
          <p:cNvSpPr/>
          <p:nvPr/>
        </p:nvSpPr>
        <p:spPr>
          <a:xfrm>
            <a:off x="661475" y="13048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171DE9-5407-4BC6-DC8E-056205951C5B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4669A-D4B1-E489-7F34-91485054377F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TABLEAU DASHBOARD</a:t>
            </a:r>
            <a:endParaRPr lang="en-IN" sz="2800" dirty="0">
              <a:latin typeface="Libre Baskerville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2BF56A-517F-8168-D8E3-3B6F30926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12192000" cy="633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07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B7F6-C4A8-2509-ABAC-A640D0604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A16626-3F48-4CC8-A501-C8C175C9F717}"/>
              </a:ext>
            </a:extLst>
          </p:cNvPr>
          <p:cNvSpPr/>
          <p:nvPr/>
        </p:nvSpPr>
        <p:spPr>
          <a:xfrm>
            <a:off x="661475" y="13048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7C4B94-BED0-2F7F-2ADF-13CCD8E837D3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8DDA1B-755D-21A3-7A96-8025F3422BDB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POWER-BI DASHBOARD</a:t>
            </a:r>
            <a:endParaRPr lang="en-IN" sz="2800" dirty="0">
              <a:latin typeface="Libre Baskerville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54269-60ED-8266-05AB-979537598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12192000" cy="633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87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08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Queries</a:t>
            </a:r>
            <a:endParaRPr lang="en-US" sz="3700" dirty="0"/>
          </a:p>
        </p:txBody>
      </p:sp>
      <p:sp>
        <p:nvSpPr>
          <p:cNvPr id="30" name="SQL Left"/>
          <p:cNvSpPr/>
          <p:nvPr/>
        </p:nvSpPr>
        <p:spPr>
          <a:xfrm>
            <a:off x="661475" y="1750000"/>
            <a:ext cx="5203794" cy="4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-- 1. Data Count Validation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Total Patient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COUNT(*) FROM Patient_details;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Total Visits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COUNT(*) FROM Visit_details;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Total Treatmment Count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COUNT(*) FROM Treatment_details;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Total Lab Results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COUNT(*) FROM Lab_Results;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-- 2. Data Completeness Check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Identify missing or null values in key columns.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* FROM Patient_details WHERE First_Name IS NULL OR LastName IS NULL;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* FROM Visit_details WHERE Visit_Type IS NULL OR Visit_Date IS NULL;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* FROM Treatment_Details WHERE Treatment_Name IS NULL OR Status IS NULL;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* FROM Lab_Results WHERE Test_Name IS NULL OR Test_Result IS NULL;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31" name="SQL Right"/>
          <p:cNvSpPr/>
          <p:nvPr/>
        </p:nvSpPr>
        <p:spPr>
          <a:xfrm>
            <a:off x="6332776" y="1750000"/>
            <a:ext cx="5203794" cy="4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-- 3. Data Consistency Check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Ensure data relationships are consistent across tables.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visit_details.Visit_ID, visit_details.Patient_ID, patient_details.Patient_ID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Visit_details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LEFT JOIN Patient_details  ON visit_details.Patient_ID = patient_details.Patient_ID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WHERE patient_details.Patient_ID IS NULL;  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treatment_details.Treatment_ID, treatment_details.Visit_ID, visit_details.Visit_ID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Treatment_details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LEFT JOIN Visit_details ON treatment_details.Visit_ID = visit_details.Visit_ID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WHERE visit_details.Visit_ID IS NULL;  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-- 4. Duplicate Records Check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-- Identify duplicate entries in key tables.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Patient_ID, COUNT(*)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Patient_details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GROUP BY Patient_ID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HAVING COUNT(*) &gt; 1;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SELECT Visit_ID, COUNT(*)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Visit_details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GROUP BY Visit_ID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HAVING COUNT(*) &gt; 1;</a:t>
            </a:r>
            <a:endParaRPr lang="en-US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3AE53A-09A1-94A4-05EC-774A94FB39CD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7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Next Steps &amp; Recommendations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53468"/>
            <a:ext cx="2575357" cy="2594074"/>
          </a:xfrm>
          <a:prstGeom prst="roundRect">
            <a:avLst>
              <a:gd name="adj" fmla="val 1101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1742480"/>
            <a:ext cx="21973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&amp; Tracking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151162"/>
            <a:ext cx="21973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patient IDs for repeat visits; track longitudinal care and readmissions.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1553468"/>
            <a:ext cx="2575456" cy="2594074"/>
          </a:xfrm>
          <a:prstGeom prst="roundRect">
            <a:avLst>
              <a:gd name="adj" fmla="val 1101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3614846" y="1742480"/>
            <a:ext cx="21974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Clinical Prioritization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14846" y="2446437"/>
            <a:ext cx="21974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Auto-alerts for abnormal and pending tests; fast-track diagnostics.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1553468"/>
            <a:ext cx="2575456" cy="2594074"/>
          </a:xfrm>
          <a:prstGeom prst="roundRect">
            <a:avLst>
              <a:gd name="adj" fmla="val 1101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6379308" y="1742480"/>
            <a:ext cx="21974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Operational Efficiency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79308" y="2446437"/>
            <a:ext cx="21974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patient-volume forecast for staffing and lab capacity planning.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1553468"/>
            <a:ext cx="2575456" cy="2594074"/>
          </a:xfrm>
          <a:prstGeom prst="roundRect">
            <a:avLst>
              <a:gd name="adj" fmla="val 1101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3771" y="1742480"/>
            <a:ext cx="21974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Optimization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43771" y="2446437"/>
            <a:ext cx="219744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Neurology/Orthopedics pricing &amp; volumes; design targeted service bundles.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336553"/>
            <a:ext cx="10868745" cy="1252484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482" y="4525566"/>
            <a:ext cx="104907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Patient Engagement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50482" y="4820841"/>
            <a:ext cx="1049073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4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can implement automated reminders for patients and use a completion dashboard</a:t>
            </a:r>
          </a:p>
          <a:p>
            <a:pPr>
              <a:lnSpc>
                <a:spcPct val="150000"/>
              </a:lnSpc>
            </a:pPr>
            <a:r>
              <a:rPr lang="en-IN" sz="1450" dirty="0">
                <a:solidFill>
                  <a:srgbClr val="4949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track whether they have completed their follow-up activities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>
              <a:solidFill>
                <a:srgbClr val="49495A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1475" y="5685532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9495A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56682" y="597078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Priority: reduce pending test rate and improve chronic-care outreach in first 90 days</a:t>
            </a:r>
            <a:endParaRPr lang="en-US" sz="14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535B3A-73D6-7058-18A4-B4DA59BBF773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8BD88-DC34-FA9C-2BA8-76500ECD3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B83627-54AE-8546-052C-F1D30C75F1C1}"/>
              </a:ext>
            </a:extLst>
          </p:cNvPr>
          <p:cNvSpPr/>
          <p:nvPr/>
        </p:nvSpPr>
        <p:spPr>
          <a:xfrm>
            <a:off x="661475" y="5847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</a:rPr>
              <a:t>Conclusion</a:t>
            </a:r>
            <a:endParaRPr lang="en-US" sz="37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3F48E3-AF03-8DEA-C863-B2B041A0BF74}"/>
              </a:ext>
            </a:extLst>
          </p:cNvPr>
          <p:cNvSpPr/>
          <p:nvPr/>
        </p:nvSpPr>
        <p:spPr>
          <a:xfrm>
            <a:off x="10870163" y="6438122"/>
            <a:ext cx="1321837" cy="419878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C4496C-2886-571D-3BCC-ED5CA3BE37C2}"/>
              </a:ext>
            </a:extLst>
          </p:cNvPr>
          <p:cNvSpPr txBox="1"/>
          <p:nvPr/>
        </p:nvSpPr>
        <p:spPr>
          <a:xfrm>
            <a:off x="457200" y="1482531"/>
            <a:ext cx="88360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Analysed 10,000 patients, with about $25.4M billed and an average treatment cost of $524.75.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patient base is steady, and diagnoses are evenly spread across all categories.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 Medicine, Cardiology and </a:t>
            </a:r>
            <a:r>
              <a:rPr lang="en-IN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Pediatrics</a:t>
            </a: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generate about 63% of total billing.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One-third of test results are still pending, and one-third are abnormal.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Almost half of the patients (49.84%) need follow-up care.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Monthly visits are stable at about 400 to 460 but not growing.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Neurology and </a:t>
            </a:r>
            <a:r>
              <a:rPr lang="en-IN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Orthopedics</a:t>
            </a: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bill the least, so they have the most room to improve.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Speeding up test reports, strengthening follow-ups, focusing on chronic-care patients and promoting the lower-billing departments will improve patient care, control costs and support steady growth.</a:t>
            </a:r>
          </a:p>
        </p:txBody>
      </p:sp>
    </p:spTree>
    <p:extLst>
      <p:ext uri="{BB962C8B-B14F-4D97-AF65-F5344CB8AC3E}">
        <p14:creationId xmlns:p14="http://schemas.microsoft.com/office/powerpoint/2010/main" val="3422908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09C3B-C58D-4E7E-FAEB-DE95E53A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B2E974-3E61-2A1D-EE97-C24903944386}"/>
              </a:ext>
            </a:extLst>
          </p:cNvPr>
          <p:cNvSpPr/>
          <p:nvPr/>
        </p:nvSpPr>
        <p:spPr>
          <a:xfrm>
            <a:off x="662336" y="31336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</a:rPr>
              <a:t>THANK YOU</a:t>
            </a:r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754664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1087</Words>
  <Application>Microsoft Office PowerPoint</Application>
  <PresentationFormat>Widescreen</PresentationFormat>
  <Paragraphs>165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Open Sans</vt:lpstr>
      <vt:lpstr>Bookman Old Style</vt:lpstr>
      <vt:lpstr>Arial</vt:lpstr>
      <vt:lpstr>Libre Baskerville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Lav Dubey</cp:lastModifiedBy>
  <cp:revision>3</cp:revision>
  <dcterms:created xsi:type="dcterms:W3CDTF">2026-09-21T06:33:05Z</dcterms:created>
  <dcterms:modified xsi:type="dcterms:W3CDTF">2026-09-27T11:27:24Z</dcterms:modified>
</cp:coreProperties>
</file>